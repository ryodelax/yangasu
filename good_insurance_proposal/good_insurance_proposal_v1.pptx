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844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FOR GOOD INSURANCE SERVICE CO.,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AI問い合わせ対応の導入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FCB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業務効率化を、売上機会の回収につなげる。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9144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383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株式会社グッド保険サービス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BFCB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伊藤専務 御中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0" y="4114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000" dirty="0">
                <a:solidFill>
                  <a:srgbClr val="BFCB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2026年5月
</a:t>
            </a:r>
            <a:endParaRPr lang="en-US" sz="10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
</a:t>
            </a:r>
            <a:endParaRPr lang="en-US" sz="10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BFCB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代表取締役  長谷川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本日の論点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AGENDA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貴社の現状理解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417320"/>
            <a:ext cx="4206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電話・問い合わせ対応の現状と、専務よりお伺いした課題感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865376"/>
            <a:ext cx="813816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2024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192024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課題の本質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4206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「業務負荷」ではなく「売上機会の損失」として捉え直す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368296"/>
            <a:ext cx="813816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2316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42316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解決方針と安全設計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4206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AIが吸収する範囲・人が対応すべき範囲の切り分け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871216"/>
            <a:ext cx="813816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2608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292608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導入ステップと検収基準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2926080"/>
            <a:ext cx="4206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1週間分析 → 本開発 → テスト運用 → 継続運用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374136"/>
            <a:ext cx="813816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2900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342900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価格・契約条件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3429000"/>
            <a:ext cx="4206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段階的なご投資判断ができるよう設計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877056"/>
            <a:ext cx="813816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3192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393192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ロードマップと次のアクション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3931920"/>
            <a:ext cx="4206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今回の範囲とその先の絵を分けてご提示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想定時間 約90分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貴社の現状理解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CURRENT SITUATION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前回のご商談で伺った内容を、当社の理解として整理しました。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1463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1日 50〜100件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電話問い合わせ件数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(全社合計)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691640"/>
            <a:ext cx="265176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691640"/>
            <a:ext cx="73152" cy="1463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約半数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うち質問・確認系の対応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(社員が即答できないものを含む)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265176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691640"/>
            <a:ext cx="73152" cy="1463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約 5分 / 件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2468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1件あたりの対応時間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(取次・確認・折り返し含む)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加えて、伺った業務全体の特徴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7947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</a:t>
            </a:r>
            <a:r>
              <a:rPr lang="en-US" sz="1100" dirty="0" err="1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売上の半分以上を管理組合部門が占めるが、極端な売上増は見込めない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イベント部門は月600〜700件の問い合わせ、見積もり作成1件あたり</a:t>
            </a:r>
            <a:r>
              <a:rPr lang="en-US" altLang="ja-JP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〜30分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ドローン部門は成長余地が大きく、専務が売上の柱として期待されている領域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537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数値は前回ご商談でのヒアリングベース。1週間分析で正確な実測値を取得します。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課題の本質は「業務負荷」ではない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REFRAMING THE PROBLEM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91440" cy="3108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一般的な捉え方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業務効率化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社員の時間を減らすことが目的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電話対応の負荷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取次・確認の手間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残業時間の削減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371600"/>
            <a:ext cx="91440" cy="3108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当社のご提案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売上機会の回収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8348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B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生まれた時間を本来の営業活動に戻す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既存顧客への深耕・更新提案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外勤・対面での関係構築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取りこぼしていた商談機会の回収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社員の手間を減らすことは手段であって、目的ではないと考えています。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なぜ売上機会が失われているのか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THE LOSS MECHANISM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AI導入後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931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現場の質問対応に時間を取られる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213055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931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取次・確認・折り返しで一日が終わる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0280" y="26791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3931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提案業務に回す時間と気力が残らない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32278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更新・追加提案・深耕のタイミング損失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40280" y="377647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3931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見えない売上機会が失われていく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691640"/>
            <a:ext cx="393192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691640"/>
            <a:ext cx="73152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質問の一次対応をAIが吸収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213055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240280"/>
            <a:ext cx="393192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240280"/>
            <a:ext cx="73152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240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社員は判断が必要な案件に集中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26791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788920"/>
            <a:ext cx="393192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788920"/>
            <a:ext cx="73152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7889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外勤・対面の時間が確保できる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32278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337560"/>
            <a:ext cx="393192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337560"/>
            <a:ext cx="73152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3375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深耕・更新提案の質と量が上がる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377647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86200"/>
            <a:ext cx="393192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886200"/>
            <a:ext cx="73152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8862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売上の上振れにつながる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解決方針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「全てをAIに置き換える」のではなく、AIと人の役割を分けて設計します。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AIが吸収する領域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一次対応の自動化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商品概要・手続きの流れの案内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必要書類のご案内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よくあるご質問への回答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担当者への引き継ぎ導線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社内ナレッジ検索の補助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393192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人が担う領域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判断・関係構築・提案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6517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個別契約内容の解釈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引受可否・補償可否の判断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保険料の最終確定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既存顧客への深耕・更新提案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対面での信頼関係構築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544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この切り分けが、保険業務でAIを使う際の安全性と実効性を両立させる要だと考えています。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保険業務だからこその安全設計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SAFETY BY DESIGN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AIに判断させない領域を明示し、回答の前提条件・出典・引き継ぎ導線を設計に組み込みます。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  AIが対応する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  AIには判断させない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4023360" cy="2331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86000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○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加入手続きの流れのご案内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○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必要書類のご説明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○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営業時間・申込期限などの基本情報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○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商品の一般的な概要説明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○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問い合わせ前の情報整理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○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担当者への引き継ぎ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2331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286000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保険料の最終確定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引受可否の判断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補償可否の断定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個別契約内容の解釈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事故時の支払可否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最適商品の断定的な推奨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「できないこと」ではなく「安全のために線を引いた領域」として、利用者にも明示する設計です。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段階的に進める導入ステップ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PHASED ROLLOUT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いきなり大きく作らず、1週間の分析からスタートし、結果を見て本開発を判断いただける設計です。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57276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572768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31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1週間 分析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788920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問い合わせ分類・FAQ化可能率の測定・対象範囲の確定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21408" y="1783080"/>
            <a:ext cx="157276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17830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21408" y="2240280"/>
            <a:ext cx="1572768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67128" y="2331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本開発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31136" y="2788920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チャットbot構築・FAQ設計・有人連携・テスト・納品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85616" y="1783080"/>
            <a:ext cx="157276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17830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85616" y="2240280"/>
            <a:ext cx="1572768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31336" y="2331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テスト運用 3ヶ月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95344" y="2788920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ログ確認・FAQ調整・精度改善・モデル選定検証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9824" y="1783080"/>
            <a:ext cx="157276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17830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49824" y="2240280"/>
            <a:ext cx="1572768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95544" y="2331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継続運用 3ヶ月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59552" y="2788920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月次分析・精度改善・FAQ追加・レポート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14032" y="1783080"/>
            <a:ext cx="157276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17830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14032" y="2240280"/>
            <a:ext cx="1572768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9752" y="2331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7ヶ月目以降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23760" y="2788920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ライト／標準／伴走の3プランから選択し再見積もり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最低契約期間は 6ヶ月。Phase A の結果を見て、Phase B 以降に進むかを改めてご判断いただけます。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A : 1週間分析の中身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WEEK-1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分析項目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各部門に来る問い合わせの分類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FAQ化が可能な比率の測定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AIで答えられる範囲と人が対応すべき範囲の切り分け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保険判断につながる危険回答を出さないための設計指針策定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チャットbotの初期対象範囲の確定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B 本開発の正式見積もりの算出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0" y="1280160"/>
            <a:ext cx="3200400" cy="3017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280160"/>
            <a:ext cx="91440" cy="3017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A スペック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1500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¥150,000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71500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B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(税抜 / 一括)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15000" y="2743200"/>
            <a:ext cx="2788920" cy="182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834640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期間:1週間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アウトプット: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分析レポート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Phase B 正式見積書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A は独立した契約として完結します。結果に納得いただいてからPhase Bへ進む建付けです。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B : 本開発と検収基準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DEVELOPMENT &amp; ACCEPTANCE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構築内容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チャットbot本体の構築(RAG + 標準UI)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初期FAQと回答ルールの設計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有人連携(担当者引き継ぎ)機能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テストと納品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0" y="1280160"/>
            <a:ext cx="3200400" cy="2103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B  本開発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¥650,000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税抜 / 期間 1.5〜2ヶ月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契約時 50% ／ 検収後 50%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オプション: オリジナルUI制作 +¥150,000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11880"/>
            <a:ext cx="9144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検収基準(契約前に明文化)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931920"/>
            <a:ext cx="7909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合意したFAQ範囲の回答妥当率 80% 以上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危険回答(保険判断・引受可否・補償可否の断定)0件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有人引き継ぎ導線が正常動作 ／ 主要シナリオ20件のテストケース通過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効果をどう測るか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HOW WE MEASURE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導入効果は「人件費削減」ではなく、現場で実感できる指標で見ていきます。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0604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26060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FAQ化可能率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問い合わせのうち、AIで一次対応できる比率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60604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691640"/>
            <a:ext cx="26060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自己解決率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240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AI応答だけで完結した会話の割合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691640"/>
            <a:ext cx="260604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691640"/>
            <a:ext cx="26060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有人移行率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2240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担当者に引き継がれた会話の割合と内容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260604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54680"/>
            <a:ext cx="26060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平均解決時間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問い合わせ発生〜解決までの所要時間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154680"/>
            <a:ext cx="260604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3154680"/>
            <a:ext cx="26060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回答妥当率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AI回答の内容が妥当だった割合(サンプリング)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3154680"/>
            <a:ext cx="260604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154680"/>
            <a:ext cx="26060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営業活動可処分時間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電話対応の負荷が下がったことで生まれる時間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具体的な数値目標は、Phase A の分析結果をもとに、貴社の現状値を起点に設定します。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価格と契約条件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PRICING &amp; TERMS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8775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区分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内容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金額(税抜)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期間 / 支払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Phase A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1週間分析(独立契約)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¥150,000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1週間 / 完了時一括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Phase B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本開発(チャットbot構築・納品)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¥650,000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1.5〜2ヶ月 / 契約時50%・検収後50%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Phase C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テスト運用 月額 × 3ヶ月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¥60,000 / 月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当月末締 翌月末払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Phase D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継続運用 月額 × 3ヶ月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¥100,000 / 月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当月末締 翌月末払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Phase E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7ヶ月目以降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別途見積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ライト／標準／伴走から選択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オプション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オリジナルUI制作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+¥150,000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Phase B と同条件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別途請求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AI利用料(API実費)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実費精算+管理フィー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毎月請求書添付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最低契約期間 </a:t>
            </a: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6ヶ月    </a:t>
            </a:r>
            <a:r>
              <a:rPr lang="en-US" sz="11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見積有効期限 </a:t>
            </a: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提出日より3ヶ月    </a:t>
            </a:r>
            <a:r>
              <a:rPr lang="en-US" sz="11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消費税 </a:t>
            </a: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別途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B 以降の正式金額は Phase A の分析結果に基づき改めてご提示します。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今回の範囲とその先のロードマップ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DX ROADMAP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第1層を今回の見積もり範囲としつつ、第2層・第3層は将来の絵として共有しておきます。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3716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第1層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今回ご提案する範囲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76656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801368"/>
            <a:ext cx="6446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HP上のAIチャットbot(全社共通FAQ)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問い合わせの一次対応の自動化と担当者引き継ぎ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15768"/>
            <a:ext cx="137160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15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第2層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1272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次フェーズの本命(別途見積)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2715768"/>
            <a:ext cx="6766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825496"/>
            <a:ext cx="6446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イベント部門の見積もり転記の自動化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保険会社見積 → Excel → PDF → 送信履歴の一気通貫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39896"/>
            <a:ext cx="137160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398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第3層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1513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中長期の絵(議論ベース)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3739896"/>
            <a:ext cx="6766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3849624"/>
            <a:ext cx="6446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ドローン部門の満期メール案内の自動化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Nats / Alrit との連携または置き換え検討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AIによる更新提案・クロスセル支援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第2層・第3層は今回の見積もりには含みません。Phase A の中で優先順位を一緒に整理させてください。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91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保険業務特有のリスクへの対処方針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AIを保険代理店の業務に組み込むうえで想定されるリスクと、それぞれへの対処方針です。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0604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26060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顧客情報の保護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顧客情報をAIの学習に使わない設定。送信内容を制御し、貴社管理下で完結する設計とします。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60604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691640"/>
            <a:ext cx="26060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誤回答(ハルシネーション)対策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240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RAGによる根拠付き回答に限定。回答できない質問は無理に答えず、人へ確実に引き継ぎます。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691640"/>
            <a:ext cx="260604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691640"/>
            <a:ext cx="26060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金融庁規制への配慮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2240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保険業法・金商法のグレーゾーンには踏み込まない設計。会話履歴は監査対応可能な形で保存します。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260604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54680"/>
            <a:ext cx="26060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API障害時の継続性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プロバイダ障害時は二次プロバイダへフォールバック。停止時は人手対応への明示誘導で穴を作りません。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154680"/>
            <a:ext cx="260604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3154680"/>
            <a:ext cx="26060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監査ログの保全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全会話を保存し、いつ誰の質問にAIがどう答えたかを後日確認可能に。金融庁規制への対応に活用できます。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0" y="3154680"/>
            <a:ext cx="260604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154680"/>
            <a:ext cx="26060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担当者引き継ぎの確実性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AIで完結できない案件は担当部署へ確実にエスカレーション。引き継ぎログを社内で共有します。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検収条件・契約条項として明文化のうえ、運用開始後も月次レビューで継続的に確認していきます。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NEXT 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次のアクション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9144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A(1週間の問い合わせ分析)の開始日を、本日のなかで握らせてください。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B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A の分析レポートを見たうえで、Phase B 本開発に進むかをご判断いただく建付けです。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2560320" cy="1188720"/>
          </a:xfrm>
          <a:prstGeom prst="rect">
            <a:avLst/>
          </a:prstGeom>
          <a:solidFill>
            <a:srgbClr val="2563EB"/>
          </a:solidFill>
          <a:ln w="6350">
            <a:solidFill>
              <a:srgbClr val="2E53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A 開始日の確定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FCB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本日中に、開始希望週を決定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3383280"/>
            <a:ext cx="2560320" cy="1188720"/>
          </a:xfrm>
          <a:prstGeom prst="rect">
            <a:avLst/>
          </a:prstGeom>
          <a:solidFill>
            <a:srgbClr val="2563EB"/>
          </a:solidFill>
          <a:ln w="6350">
            <a:solidFill>
              <a:srgbClr val="2E53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6616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ヒアリング対象の確定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FCB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対象部門と協力者をすり合わせ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3383280"/>
            <a:ext cx="2560320" cy="1188720"/>
          </a:xfrm>
          <a:prstGeom prst="rect">
            <a:avLst/>
          </a:prstGeom>
          <a:solidFill>
            <a:srgbClr val="2563EB"/>
          </a:solidFill>
          <a:ln w="6350">
            <a:solidFill>
              <a:srgbClr val="2E53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A5E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Phase B 判断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FCB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1週間後、分析結果を見て判断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B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株式会社エキセントリック  /  代表取締役 長谷川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3020</TotalTime>
  <Words>974</Words>
  <Application>Microsoft Macintosh PowerPoint</Application>
  <PresentationFormat>画面に合わせる (16:9)</PresentationFormat>
  <Paragraphs>311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游ゴシック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AI問い合わせ対応導入のご提案</dc:title>
  <dc:subject>PptxGenJS Presentation</dc:subject>
  <dc:creator>株式会社エキセントリック</dc:creator>
  <cp:lastModifiedBy>遼 長谷川</cp:lastModifiedBy>
  <cp:revision>2</cp:revision>
  <dcterms:created xsi:type="dcterms:W3CDTF">2026-05-19T11:24:00Z</dcterms:created>
  <dcterms:modified xsi:type="dcterms:W3CDTF">2026-05-22T00:21:35Z</dcterms:modified>
</cp:coreProperties>
</file>